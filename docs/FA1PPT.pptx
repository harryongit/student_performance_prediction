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5" r:id="rId11"/>
    <p:sldId id="267" r:id="rId12"/>
    <p:sldId id="266" r:id="rId13"/>
  </p:sldIdLst>
  <p:sldSz cx="18288000" cy="10287000"/>
  <p:notesSz cx="6858000" cy="9144000"/>
  <p:embeddedFontLst>
    <p:embeddedFont>
      <p:font typeface="Libre Baskerville" pitchFamily="2" charset="0"/>
      <p:regular r:id="rId15"/>
    </p:embeddedFont>
    <p:embeddedFont>
      <p:font typeface="Open Sans" panose="020B0606030504020204" pitchFamily="34" charset="0"/>
      <p:regular r:id="rId16"/>
      <p:bold r:id="rId17"/>
    </p:embeddedFont>
    <p:embeddedFont>
      <p:font typeface="Open Sans Bold" panose="020B080603050402020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D80DB-4D18-49F4-98C6-AA4047AE540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CB462-0F6C-4275-A849-DF8FBBB34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90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opscience.iop.org/article/10.1088/1757-899X/1055/1/012122/pdf" TargetMode="External"/><Relationship Id="rId2" Type="http://schemas.openxmlformats.org/officeDocument/2006/relationships/hyperlink" Target="https://www.ijert.org/research/student-performance-prediction-using-machine-learning-IJERTV4IS030127.pdf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irjmets.com/uploadedfiles/paper/issue_6_june_2023/42322/final/fin_irjmets1687680310.pdf" TargetMode="External"/><Relationship Id="rId4" Type="http://schemas.openxmlformats.org/officeDocument/2006/relationships/hyperlink" Target="https://journalajrcos.com/index.php/AJRCOS/article/view/351/699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3391941"/>
            <a:ext cx="9445526" cy="2686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Student Performance Prediction Using Machine Learning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6436965"/>
            <a:ext cx="9445526" cy="42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Identifying At-Risk Students Through Data-Driven Intelligence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8202575"/>
            <a:ext cx="9445526" cy="240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600" dirty="0" err="1">
                <a:ea typeface="Open Sans"/>
                <a:cs typeface="Open Sans"/>
                <a:sym typeface="Open Sans"/>
              </a:rPr>
              <a:t>Harivdan</a:t>
            </a:r>
            <a:r>
              <a:rPr lang="en-US" sz="1600" dirty="0"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ea typeface="Open Sans"/>
                <a:cs typeface="Open Sans"/>
                <a:sym typeface="Open Sans"/>
              </a:rPr>
              <a:t>Narayanshastri</a:t>
            </a:r>
            <a:endParaRPr lang="en-US" sz="1600" dirty="0">
              <a:ea typeface="Open Sans"/>
              <a:cs typeface="Open Sans"/>
              <a:sym typeface="Open Sans"/>
            </a:endParaRPr>
          </a:p>
          <a:p>
            <a:r>
              <a:rPr lang="en-IN" sz="1600" dirty="0"/>
              <a:t>Roll No : 10</a:t>
            </a:r>
          </a:p>
          <a:p>
            <a:r>
              <a:rPr lang="en-IN" sz="1600" dirty="0"/>
              <a:t>Division : A</a:t>
            </a:r>
          </a:p>
          <a:p>
            <a:r>
              <a:rPr lang="en-IN" sz="1600" dirty="0"/>
              <a:t>Year : FY</a:t>
            </a:r>
          </a:p>
          <a:p>
            <a:r>
              <a:rPr lang="en-IN" sz="1600" dirty="0"/>
              <a:t>Semester : 1</a:t>
            </a:r>
          </a:p>
          <a:p>
            <a:r>
              <a:rPr lang="en-IN" sz="1600" dirty="0"/>
              <a:t>Subject: </a:t>
            </a:r>
            <a:r>
              <a:rPr lang="en-US" sz="1600" dirty="0"/>
              <a:t>MIT21PC02 : Artificial Intelligence and Machine Learning (AI &amp; ML)</a:t>
            </a:r>
            <a:endParaRPr lang="en-IN" sz="1600" dirty="0"/>
          </a:p>
          <a:p>
            <a:br>
              <a:rPr lang="en-IN" sz="1600" dirty="0"/>
            </a:br>
            <a:endParaRPr lang="en-US" sz="1600" dirty="0">
              <a:ea typeface="Open Sans"/>
              <a:cs typeface="Open Sans"/>
              <a:sym typeface="Open Sans"/>
            </a:endParaRPr>
          </a:p>
          <a:p>
            <a:pPr algn="l">
              <a:lnSpc>
                <a:spcPts val="2812"/>
              </a:lnSpc>
            </a:pPr>
            <a:endParaRPr lang="en-US" sz="1600" dirty="0"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7" y="1942059"/>
            <a:ext cx="5670649" cy="7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Challenge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7" y="3009305"/>
            <a:ext cx="944552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Educational institutions lack timely, data-driven tools to identify struggling students before performance declines become critical.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850237" y="4321225"/>
            <a:ext cx="4580930" cy="2087315"/>
            <a:chOff x="0" y="0"/>
            <a:chExt cx="6107907" cy="27830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107938" cy="2783078"/>
            </a:xfrm>
            <a:custGeom>
              <a:avLst/>
              <a:gdLst/>
              <a:ahLst/>
              <a:cxnLst/>
              <a:rect l="l" t="t" r="r" b="b"/>
              <a:pathLst>
                <a:path w="6107938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051169" y="0"/>
                  </a:lnTo>
                  <a:cubicBezTo>
                    <a:pt x="6082538" y="0"/>
                    <a:pt x="6107938" y="25400"/>
                    <a:pt x="6107938" y="56769"/>
                  </a:cubicBezTo>
                  <a:lnTo>
                    <a:pt x="6107938" y="2726309"/>
                  </a:lnTo>
                  <a:cubicBezTo>
                    <a:pt x="6107938" y="2757678"/>
                    <a:pt x="6082538" y="2783078"/>
                    <a:pt x="6051169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8133755" y="4585692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Manual Evaluation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33755" y="5132040"/>
            <a:ext cx="401389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Time-intensive, reactive assessments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714685" y="4321225"/>
            <a:ext cx="4581079" cy="2087315"/>
            <a:chOff x="0" y="0"/>
            <a:chExt cx="6108105" cy="27830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108192" cy="2783078"/>
            </a:xfrm>
            <a:custGeom>
              <a:avLst/>
              <a:gdLst/>
              <a:ahLst/>
              <a:cxnLst/>
              <a:rect l="l" t="t" r="r" b="b"/>
              <a:pathLst>
                <a:path w="6108192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051423" y="0"/>
                  </a:lnTo>
                  <a:cubicBezTo>
                    <a:pt x="6082792" y="0"/>
                    <a:pt x="6108192" y="25400"/>
                    <a:pt x="6108192" y="56769"/>
                  </a:cubicBezTo>
                  <a:lnTo>
                    <a:pt x="6108192" y="2726309"/>
                  </a:lnTo>
                  <a:cubicBezTo>
                    <a:pt x="6108192" y="2757678"/>
                    <a:pt x="6082792" y="2783078"/>
                    <a:pt x="6051423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2998202" y="4585692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Late Intervention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98202" y="5132040"/>
            <a:ext cx="4014044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Issues discovered after damage is done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850237" y="6692056"/>
            <a:ext cx="9445526" cy="1633686"/>
            <a:chOff x="0" y="0"/>
            <a:chExt cx="12594035" cy="21782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93955" cy="2178177"/>
            </a:xfrm>
            <a:custGeom>
              <a:avLst/>
              <a:gdLst/>
              <a:ahLst/>
              <a:cxnLst/>
              <a:rect l="l" t="t" r="r" b="b"/>
              <a:pathLst>
                <a:path w="12593955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2537313" y="0"/>
                  </a:lnTo>
                  <a:cubicBezTo>
                    <a:pt x="12568682" y="0"/>
                    <a:pt x="12593955" y="25400"/>
                    <a:pt x="12593955" y="56642"/>
                  </a:cubicBezTo>
                  <a:lnTo>
                    <a:pt x="12593955" y="2121535"/>
                  </a:lnTo>
                  <a:cubicBezTo>
                    <a:pt x="12593955" y="2152904"/>
                    <a:pt x="12568555" y="2178177"/>
                    <a:pt x="12537313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8133755" y="6956524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Limited Insight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33755" y="7502872"/>
            <a:ext cx="8878491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No predictive patterns or early warnings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3544044"/>
            <a:chOff x="0" y="0"/>
            <a:chExt cx="24384000" cy="4725392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725416"/>
            </a:xfrm>
            <a:custGeom>
              <a:avLst/>
              <a:gdLst/>
              <a:ahLst/>
              <a:cxnLst/>
              <a:rect l="l" t="t" r="r" b="b"/>
              <a:pathLst>
                <a:path w="24384000" h="4725416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" r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238" y="4435228"/>
            <a:ext cx="5670649" cy="7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Objectives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238" y="6438751"/>
            <a:ext cx="5245447" cy="1428750"/>
            <a:chOff x="0" y="0"/>
            <a:chExt cx="6993930" cy="190500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6993890" cy="1905000"/>
            </a:xfrm>
            <a:custGeom>
              <a:avLst/>
              <a:gdLst/>
              <a:ahLst/>
              <a:cxnLst/>
              <a:rect l="l" t="t" r="r" b="b"/>
              <a:pathLst>
                <a:path w="6993890" h="1905000">
                  <a:moveTo>
                    <a:pt x="0" y="0"/>
                  </a:moveTo>
                  <a:lnTo>
                    <a:pt x="6993890" y="0"/>
                  </a:lnTo>
                  <a:lnTo>
                    <a:pt x="699389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r="-27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275755" y="7553771"/>
            <a:ext cx="375686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Predict Performance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5755" y="8100120"/>
            <a:ext cx="467841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Deploy ML models to forecast student outcomes with accuracy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21202" y="6013400"/>
            <a:ext cx="5245447" cy="1428750"/>
            <a:chOff x="0" y="0"/>
            <a:chExt cx="6993930" cy="19050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6993890" cy="1905000"/>
            </a:xfrm>
            <a:custGeom>
              <a:avLst/>
              <a:gdLst/>
              <a:ahLst/>
              <a:cxnLst/>
              <a:rect l="l" t="t" r="r" b="b"/>
              <a:pathLst>
                <a:path w="6993890" h="1905000">
                  <a:moveTo>
                    <a:pt x="0" y="0"/>
                  </a:moveTo>
                  <a:lnTo>
                    <a:pt x="6993890" y="0"/>
                  </a:lnTo>
                  <a:lnTo>
                    <a:pt x="699389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r="-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804720" y="7128421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Early Detection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04720" y="7674769"/>
            <a:ext cx="467841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Identify at-risk students before critical performance drops occur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50166" y="5588199"/>
            <a:ext cx="5245447" cy="1428750"/>
            <a:chOff x="0" y="0"/>
            <a:chExt cx="6993930" cy="19050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6993890" cy="1905000"/>
            </a:xfrm>
            <a:custGeom>
              <a:avLst/>
              <a:gdLst/>
              <a:ahLst/>
              <a:cxnLst/>
              <a:rect l="l" t="t" r="r" b="b"/>
              <a:pathLst>
                <a:path w="6993890" h="1905000">
                  <a:moveTo>
                    <a:pt x="0" y="0"/>
                  </a:moveTo>
                  <a:lnTo>
                    <a:pt x="6993890" y="0"/>
                  </a:lnTo>
                  <a:lnTo>
                    <a:pt x="699389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r="-27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2333685" y="6703219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Enable Action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33685" y="7249566"/>
            <a:ext cx="467841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Empower educators with insights for timely, targeted interventions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1653480"/>
            <a:ext cx="7646194" cy="7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Literature &amp; Current Gaps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2720727"/>
            <a:ext cx="944552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Existing research shows promise but reveals critical limitations: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3843486"/>
            <a:ext cx="363855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Current Limitations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4503241"/>
            <a:ext cx="4376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Small, limited datasets reduce generalization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5509617"/>
            <a:ext cx="4376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Accuracy plateaus around 75-80%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6515992"/>
            <a:ext cx="4376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Black-box models lack interpretability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238" y="7522369"/>
            <a:ext cx="4376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Minimal teacher-facing tools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70401" y="3843486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Research Gaps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70401" y="4503241"/>
            <a:ext cx="4376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Multi-institutional data integration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70401" y="5509617"/>
            <a:ext cx="4376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Real-time prediction capabilities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70401" y="6515992"/>
            <a:ext cx="4376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Actionable, explainable recommendations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70401" y="7522369"/>
            <a:ext cx="4376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Scalable deployment frameworks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393561"/>
            <a:chOff x="0" y="0"/>
            <a:chExt cx="9144000" cy="1385808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858112"/>
            </a:xfrm>
            <a:custGeom>
              <a:avLst/>
              <a:gdLst/>
              <a:ahLst/>
              <a:cxnLst/>
              <a:rect l="l" t="t" r="r" b="b"/>
              <a:pathLst>
                <a:path w="9144000" h="13858112">
                  <a:moveTo>
                    <a:pt x="0" y="0"/>
                  </a:moveTo>
                  <a:lnTo>
                    <a:pt x="9144000" y="0"/>
                  </a:lnTo>
                  <a:lnTo>
                    <a:pt x="9144000" y="13858112"/>
                  </a:lnTo>
                  <a:lnTo>
                    <a:pt x="0" y="1385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" r="-8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78694" y="740420"/>
            <a:ext cx="6463307" cy="727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dirty="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Proposed ML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8694" y="1801714"/>
            <a:ext cx="9472612" cy="98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 comprehensive system capturing student data across multiple dimensions for integrated, real-time prediction: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78694" y="3096666"/>
            <a:ext cx="9472612" cy="6527899"/>
            <a:chOff x="0" y="0"/>
            <a:chExt cx="12630150" cy="8703865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2630150" cy="8703818"/>
            </a:xfrm>
            <a:custGeom>
              <a:avLst/>
              <a:gdLst/>
              <a:ahLst/>
              <a:cxnLst/>
              <a:rect l="l" t="t" r="r" b="b"/>
              <a:pathLst>
                <a:path w="12630150" h="8703818">
                  <a:moveTo>
                    <a:pt x="0" y="0"/>
                  </a:moveTo>
                  <a:lnTo>
                    <a:pt x="12630150" y="0"/>
                  </a:lnTo>
                  <a:lnTo>
                    <a:pt x="12630150" y="8703818"/>
                  </a:lnTo>
                  <a:lnTo>
                    <a:pt x="0" y="8703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0" r="-50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215971" y="7158559"/>
            <a:ext cx="2588592" cy="34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Collection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2321481" y="5495600"/>
            <a:ext cx="613002" cy="613001"/>
          </a:xfrm>
          <a:custGeom>
            <a:avLst/>
            <a:gdLst/>
            <a:ahLst/>
            <a:cxnLst/>
            <a:rect l="l" t="t" r="r" b="b"/>
            <a:pathLst>
              <a:path w="613002" h="613001">
                <a:moveTo>
                  <a:pt x="0" y="0"/>
                </a:moveTo>
                <a:lnTo>
                  <a:pt x="613003" y="0"/>
                </a:lnTo>
                <a:lnTo>
                  <a:pt x="613003" y="613001"/>
                </a:lnTo>
                <a:lnTo>
                  <a:pt x="0" y="613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421820" y="4417291"/>
            <a:ext cx="2672689" cy="34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Preprocessing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4259142" y="5869339"/>
            <a:ext cx="613001" cy="613001"/>
          </a:xfrm>
          <a:custGeom>
            <a:avLst/>
            <a:gdLst/>
            <a:ahLst/>
            <a:cxnLst/>
            <a:rect l="l" t="t" r="r" b="b"/>
            <a:pathLst>
              <a:path w="613001" h="613001">
                <a:moveTo>
                  <a:pt x="0" y="0"/>
                </a:moveTo>
                <a:lnTo>
                  <a:pt x="613002" y="0"/>
                </a:lnTo>
                <a:lnTo>
                  <a:pt x="613002" y="613001"/>
                </a:lnTo>
                <a:lnTo>
                  <a:pt x="0" y="613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3846" b="-33846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216000" y="7961399"/>
            <a:ext cx="2588592" cy="34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Training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6196995" y="6243079"/>
            <a:ext cx="613001" cy="613002"/>
          </a:xfrm>
          <a:custGeom>
            <a:avLst/>
            <a:gdLst/>
            <a:ahLst/>
            <a:cxnLst/>
            <a:rect l="l" t="t" r="r" b="b"/>
            <a:pathLst>
              <a:path w="613001" h="613002">
                <a:moveTo>
                  <a:pt x="0" y="0"/>
                </a:moveTo>
                <a:lnTo>
                  <a:pt x="613001" y="0"/>
                </a:lnTo>
                <a:lnTo>
                  <a:pt x="613001" y="613002"/>
                </a:lnTo>
                <a:lnTo>
                  <a:pt x="0" y="613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2307" b="-2307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513799" y="5138909"/>
            <a:ext cx="2588591" cy="34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Evaluation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8259362" y="6644404"/>
            <a:ext cx="613002" cy="613001"/>
          </a:xfrm>
          <a:custGeom>
            <a:avLst/>
            <a:gdLst/>
            <a:ahLst/>
            <a:cxnLst/>
            <a:rect l="l" t="t" r="r" b="b"/>
            <a:pathLst>
              <a:path w="613002" h="613001">
                <a:moveTo>
                  <a:pt x="0" y="0"/>
                </a:moveTo>
                <a:lnTo>
                  <a:pt x="613003" y="0"/>
                </a:lnTo>
                <a:lnTo>
                  <a:pt x="613003" y="613001"/>
                </a:lnTo>
                <a:lnTo>
                  <a:pt x="0" y="6130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769" b="-769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77F9DA4-FFB3-F847-7DB7-772FEF1D8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095500"/>
            <a:ext cx="12346840" cy="7081500"/>
          </a:xfrm>
          <a:prstGeom prst="rect">
            <a:avLst/>
          </a:prstGeom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94FB54D9-35AE-C391-3760-7FB8114BAE4F}"/>
              </a:ext>
            </a:extLst>
          </p:cNvPr>
          <p:cNvSpPr txBox="1"/>
          <p:nvPr/>
        </p:nvSpPr>
        <p:spPr>
          <a:xfrm>
            <a:off x="2667000" y="1670500"/>
            <a:ext cx="9472612" cy="409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en-US" sz="2187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Research has shown that architecture can be improved to date.</a:t>
            </a:r>
          </a:p>
        </p:txBody>
      </p:sp>
    </p:spTree>
    <p:extLst>
      <p:ext uri="{BB962C8B-B14F-4D97-AF65-F5344CB8AC3E}">
        <p14:creationId xmlns:p14="http://schemas.microsoft.com/office/powerpoint/2010/main" val="2572564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95" name="Text 0">
            <a:extLst>
              <a:ext uri="{FF2B5EF4-FFF2-40B4-BE49-F238E27FC236}">
                <a16:creationId xmlns:a16="http://schemas.microsoft.com/office/drawing/2014/main" id="{56CD1A91-FA4B-BFC8-A299-D2680BEFCB5C}"/>
              </a:ext>
            </a:extLst>
          </p:cNvPr>
          <p:cNvSpPr/>
          <p:nvPr/>
        </p:nvSpPr>
        <p:spPr>
          <a:xfrm>
            <a:off x="992237" y="1515665"/>
            <a:ext cx="10715328" cy="70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63"/>
              </a:lnSpc>
            </a:pPr>
            <a:r>
              <a:rPr lang="en-US" sz="4438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Methodology: End-to-End Workflow</a:t>
            </a:r>
            <a:endParaRPr lang="en-US" sz="4438" dirty="0"/>
          </a:p>
        </p:txBody>
      </p:sp>
      <p:sp>
        <p:nvSpPr>
          <p:cNvPr id="96" name="Text 1">
            <a:extLst>
              <a:ext uri="{FF2B5EF4-FFF2-40B4-BE49-F238E27FC236}">
                <a16:creationId xmlns:a16="http://schemas.microsoft.com/office/drawing/2014/main" id="{5D1E2F84-DEE3-230A-CE72-050E6C4A7E34}"/>
              </a:ext>
            </a:extLst>
          </p:cNvPr>
          <p:cNvSpPr/>
          <p:nvPr/>
        </p:nvSpPr>
        <p:spPr>
          <a:xfrm>
            <a:off x="992237" y="2791420"/>
            <a:ext cx="283518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2188" dirty="0"/>
          </a:p>
        </p:txBody>
      </p:sp>
      <p:pic>
        <p:nvPicPr>
          <p:cNvPr id="97" name="Image 0" descr="preencoded.png">
            <a:extLst>
              <a:ext uri="{FF2B5EF4-FFF2-40B4-BE49-F238E27FC236}">
                <a16:creationId xmlns:a16="http://schemas.microsoft.com/office/drawing/2014/main" id="{1C4FA9C8-1924-689E-60AB-DB74148C1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237" y="3235226"/>
            <a:ext cx="5245448" cy="38100"/>
          </a:xfrm>
          <a:prstGeom prst="rect">
            <a:avLst/>
          </a:prstGeom>
        </p:spPr>
      </p:pic>
      <p:sp>
        <p:nvSpPr>
          <p:cNvPr id="98" name="Text 2">
            <a:extLst>
              <a:ext uri="{FF2B5EF4-FFF2-40B4-BE49-F238E27FC236}">
                <a16:creationId xmlns:a16="http://schemas.microsoft.com/office/drawing/2014/main" id="{16A6D5AC-C600-42BC-492A-8F5302683AB1}"/>
              </a:ext>
            </a:extLst>
          </p:cNvPr>
          <p:cNvSpPr/>
          <p:nvPr/>
        </p:nvSpPr>
        <p:spPr>
          <a:xfrm>
            <a:off x="992238" y="3453110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Collection</a:t>
            </a:r>
            <a:endParaRPr lang="en-US" sz="2750" dirty="0"/>
          </a:p>
        </p:txBody>
      </p:sp>
      <p:sp>
        <p:nvSpPr>
          <p:cNvPr id="99" name="Text 3">
            <a:extLst>
              <a:ext uri="{FF2B5EF4-FFF2-40B4-BE49-F238E27FC236}">
                <a16:creationId xmlns:a16="http://schemas.microsoft.com/office/drawing/2014/main" id="{A7709049-52A3-7ED0-9150-DF0D5A2FF1B7}"/>
              </a:ext>
            </a:extLst>
          </p:cNvPr>
          <p:cNvSpPr/>
          <p:nvPr/>
        </p:nvSpPr>
        <p:spPr>
          <a:xfrm>
            <a:off x="992237" y="4066134"/>
            <a:ext cx="5245448" cy="136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 student records: attendance, grades, assignments, engagement metrics, demographic factors</a:t>
            </a:r>
            <a:endParaRPr lang="en-US" sz="2188" dirty="0"/>
          </a:p>
        </p:txBody>
      </p:sp>
      <p:sp>
        <p:nvSpPr>
          <p:cNvPr id="100" name="Text 4">
            <a:extLst>
              <a:ext uri="{FF2B5EF4-FFF2-40B4-BE49-F238E27FC236}">
                <a16:creationId xmlns:a16="http://schemas.microsoft.com/office/drawing/2014/main" id="{1221CBF2-0FEA-8006-A3E8-139BC63AFD6D}"/>
              </a:ext>
            </a:extLst>
          </p:cNvPr>
          <p:cNvSpPr/>
          <p:nvPr/>
        </p:nvSpPr>
        <p:spPr>
          <a:xfrm>
            <a:off x="6521202" y="2791420"/>
            <a:ext cx="283518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2188" dirty="0"/>
          </a:p>
        </p:txBody>
      </p:sp>
      <p:pic>
        <p:nvPicPr>
          <p:cNvPr id="101" name="Image 1" descr="preencoded.png">
            <a:extLst>
              <a:ext uri="{FF2B5EF4-FFF2-40B4-BE49-F238E27FC236}">
                <a16:creationId xmlns:a16="http://schemas.microsoft.com/office/drawing/2014/main" id="{5B1EAC8E-48BF-2E70-F0C4-02F04D88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202" y="3235226"/>
            <a:ext cx="5245448" cy="38100"/>
          </a:xfrm>
          <a:prstGeom prst="rect">
            <a:avLst/>
          </a:prstGeom>
        </p:spPr>
      </p:pic>
      <p:sp>
        <p:nvSpPr>
          <p:cNvPr id="102" name="Text 5">
            <a:extLst>
              <a:ext uri="{FF2B5EF4-FFF2-40B4-BE49-F238E27FC236}">
                <a16:creationId xmlns:a16="http://schemas.microsoft.com/office/drawing/2014/main" id="{220642F7-1E74-75AC-67DC-5B2EAEFECB5B}"/>
              </a:ext>
            </a:extLst>
          </p:cNvPr>
          <p:cNvSpPr/>
          <p:nvPr/>
        </p:nvSpPr>
        <p:spPr>
          <a:xfrm>
            <a:off x="6521203" y="3453110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Preprocessing</a:t>
            </a:r>
            <a:endParaRPr lang="en-US" sz="2750" dirty="0"/>
          </a:p>
        </p:txBody>
      </p:sp>
      <p:sp>
        <p:nvSpPr>
          <p:cNvPr id="103" name="Text 6">
            <a:extLst>
              <a:ext uri="{FF2B5EF4-FFF2-40B4-BE49-F238E27FC236}">
                <a16:creationId xmlns:a16="http://schemas.microsoft.com/office/drawing/2014/main" id="{3C5D1FCB-896F-2244-DE27-81DC6B24F5FB}"/>
              </a:ext>
            </a:extLst>
          </p:cNvPr>
          <p:cNvSpPr/>
          <p:nvPr/>
        </p:nvSpPr>
        <p:spPr>
          <a:xfrm>
            <a:off x="6521202" y="4066134"/>
            <a:ext cx="5245448" cy="136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data, handle missing values, normalize features, select high-impact predictors</a:t>
            </a:r>
            <a:endParaRPr lang="en-US" sz="2188" dirty="0"/>
          </a:p>
        </p:txBody>
      </p:sp>
      <p:sp>
        <p:nvSpPr>
          <p:cNvPr id="104" name="Text 7">
            <a:extLst>
              <a:ext uri="{FF2B5EF4-FFF2-40B4-BE49-F238E27FC236}">
                <a16:creationId xmlns:a16="http://schemas.microsoft.com/office/drawing/2014/main" id="{CA5D171D-C4EA-BD10-8804-8287D45502B5}"/>
              </a:ext>
            </a:extLst>
          </p:cNvPr>
          <p:cNvSpPr/>
          <p:nvPr/>
        </p:nvSpPr>
        <p:spPr>
          <a:xfrm>
            <a:off x="12050166" y="2791420"/>
            <a:ext cx="283518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2188" dirty="0"/>
          </a:p>
        </p:txBody>
      </p:sp>
      <p:pic>
        <p:nvPicPr>
          <p:cNvPr id="105" name="Image 2" descr="preencoded.png">
            <a:extLst>
              <a:ext uri="{FF2B5EF4-FFF2-40B4-BE49-F238E27FC236}">
                <a16:creationId xmlns:a16="http://schemas.microsoft.com/office/drawing/2014/main" id="{BC5D0247-AB78-A864-F2CE-CE2A89D9B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0166" y="3235226"/>
            <a:ext cx="5245448" cy="38100"/>
          </a:xfrm>
          <a:prstGeom prst="rect">
            <a:avLst/>
          </a:prstGeom>
        </p:spPr>
      </p:pic>
      <p:sp>
        <p:nvSpPr>
          <p:cNvPr id="106" name="Text 8">
            <a:extLst>
              <a:ext uri="{FF2B5EF4-FFF2-40B4-BE49-F238E27FC236}">
                <a16:creationId xmlns:a16="http://schemas.microsoft.com/office/drawing/2014/main" id="{3A638F63-0B8F-AA55-82E0-EEB404DDD6B2}"/>
              </a:ext>
            </a:extLst>
          </p:cNvPr>
          <p:cNvSpPr/>
          <p:nvPr/>
        </p:nvSpPr>
        <p:spPr>
          <a:xfrm>
            <a:off x="12050167" y="3453110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Training</a:t>
            </a:r>
            <a:endParaRPr lang="en-US" sz="2750" dirty="0"/>
          </a:p>
        </p:txBody>
      </p:sp>
      <p:sp>
        <p:nvSpPr>
          <p:cNvPr id="107" name="Text 9">
            <a:extLst>
              <a:ext uri="{FF2B5EF4-FFF2-40B4-BE49-F238E27FC236}">
                <a16:creationId xmlns:a16="http://schemas.microsoft.com/office/drawing/2014/main" id="{32BFCE1F-E257-A274-93C5-4CAE8F5685E2}"/>
              </a:ext>
            </a:extLst>
          </p:cNvPr>
          <p:cNvSpPr/>
          <p:nvPr/>
        </p:nvSpPr>
        <p:spPr>
          <a:xfrm>
            <a:off x="12050166" y="4066134"/>
            <a:ext cx="524544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ensemble algorithms with cross-validation; compare Logistic Regression, Decision Trees, Random Forest</a:t>
            </a:r>
            <a:endParaRPr lang="en-US" sz="2188" dirty="0"/>
          </a:p>
        </p:txBody>
      </p:sp>
      <p:sp>
        <p:nvSpPr>
          <p:cNvPr id="108" name="Text 10">
            <a:extLst>
              <a:ext uri="{FF2B5EF4-FFF2-40B4-BE49-F238E27FC236}">
                <a16:creationId xmlns:a16="http://schemas.microsoft.com/office/drawing/2014/main" id="{31AF0122-9C9C-7A03-F99C-603805330BA9}"/>
              </a:ext>
            </a:extLst>
          </p:cNvPr>
          <p:cNvSpPr/>
          <p:nvPr/>
        </p:nvSpPr>
        <p:spPr>
          <a:xfrm>
            <a:off x="992237" y="6376690"/>
            <a:ext cx="283518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2188" dirty="0"/>
          </a:p>
        </p:txBody>
      </p:sp>
      <p:pic>
        <p:nvPicPr>
          <p:cNvPr id="109" name="Image 3" descr="preencoded.png">
            <a:extLst>
              <a:ext uri="{FF2B5EF4-FFF2-40B4-BE49-F238E27FC236}">
                <a16:creationId xmlns:a16="http://schemas.microsoft.com/office/drawing/2014/main" id="{21CBBB56-3703-7783-5888-289071DE4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238" y="6792218"/>
            <a:ext cx="8009930" cy="38100"/>
          </a:xfrm>
          <a:prstGeom prst="rect">
            <a:avLst/>
          </a:prstGeom>
        </p:spPr>
      </p:pic>
      <p:sp>
        <p:nvSpPr>
          <p:cNvPr id="110" name="Text 11">
            <a:extLst>
              <a:ext uri="{FF2B5EF4-FFF2-40B4-BE49-F238E27FC236}">
                <a16:creationId xmlns:a16="http://schemas.microsoft.com/office/drawing/2014/main" id="{C7FD0969-549D-FCF1-8BF6-76CB31BE74C6}"/>
              </a:ext>
            </a:extLst>
          </p:cNvPr>
          <p:cNvSpPr/>
          <p:nvPr/>
        </p:nvSpPr>
        <p:spPr>
          <a:xfrm>
            <a:off x="992238" y="7038380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Evaluation</a:t>
            </a:r>
            <a:endParaRPr lang="en-US" sz="2750" dirty="0"/>
          </a:p>
        </p:txBody>
      </p:sp>
      <p:sp>
        <p:nvSpPr>
          <p:cNvPr id="111" name="Text 12">
            <a:extLst>
              <a:ext uri="{FF2B5EF4-FFF2-40B4-BE49-F238E27FC236}">
                <a16:creationId xmlns:a16="http://schemas.microsoft.com/office/drawing/2014/main" id="{0A27A78C-A093-042C-6D0A-9BA56494D774}"/>
              </a:ext>
            </a:extLst>
          </p:cNvPr>
          <p:cNvSpPr/>
          <p:nvPr/>
        </p:nvSpPr>
        <p:spPr>
          <a:xfrm>
            <a:off x="992238" y="7651403"/>
            <a:ext cx="80099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 accuracy, precision, recall, F1-score; validate on held-out test sets</a:t>
            </a:r>
            <a:endParaRPr lang="en-US" sz="2188" dirty="0"/>
          </a:p>
        </p:txBody>
      </p:sp>
      <p:sp>
        <p:nvSpPr>
          <p:cNvPr id="112" name="Text 13">
            <a:extLst>
              <a:ext uri="{FF2B5EF4-FFF2-40B4-BE49-F238E27FC236}">
                <a16:creationId xmlns:a16="http://schemas.microsoft.com/office/drawing/2014/main" id="{DAFC98EC-4953-9CAF-8F37-4C839342D92E}"/>
              </a:ext>
            </a:extLst>
          </p:cNvPr>
          <p:cNvSpPr/>
          <p:nvPr/>
        </p:nvSpPr>
        <p:spPr>
          <a:xfrm>
            <a:off x="9285685" y="6376690"/>
            <a:ext cx="283518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2188" dirty="0"/>
          </a:p>
        </p:txBody>
      </p:sp>
      <p:pic>
        <p:nvPicPr>
          <p:cNvPr id="113" name="Image 4" descr="preencoded.png">
            <a:extLst>
              <a:ext uri="{FF2B5EF4-FFF2-40B4-BE49-F238E27FC236}">
                <a16:creationId xmlns:a16="http://schemas.microsoft.com/office/drawing/2014/main" id="{C694759B-AD16-7627-F44A-CD35A2525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685" y="6792218"/>
            <a:ext cx="8009930" cy="38100"/>
          </a:xfrm>
          <a:prstGeom prst="rect">
            <a:avLst/>
          </a:prstGeom>
        </p:spPr>
      </p:pic>
      <p:sp>
        <p:nvSpPr>
          <p:cNvPr id="114" name="Text 14">
            <a:extLst>
              <a:ext uri="{FF2B5EF4-FFF2-40B4-BE49-F238E27FC236}">
                <a16:creationId xmlns:a16="http://schemas.microsoft.com/office/drawing/2014/main" id="{32DD08D3-75DC-E2B6-5D91-BB7B80C6B001}"/>
              </a:ext>
            </a:extLst>
          </p:cNvPr>
          <p:cNvSpPr/>
          <p:nvPr/>
        </p:nvSpPr>
        <p:spPr>
          <a:xfrm>
            <a:off x="9285686" y="7038380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Deployment</a:t>
            </a:r>
            <a:endParaRPr lang="en-US" sz="2750" dirty="0"/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8B4C36DA-1FC0-B38D-6645-70FAD146872A}"/>
              </a:ext>
            </a:extLst>
          </p:cNvPr>
          <p:cNvSpPr/>
          <p:nvPr/>
        </p:nvSpPr>
        <p:spPr>
          <a:xfrm>
            <a:off x="9285685" y="7651403"/>
            <a:ext cx="80099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Launch intuitive dashboard for administrators and teachers to monitor predictions and take action</a:t>
            </a:r>
            <a:endParaRPr lang="en-US" sz="218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2658070"/>
            <a:chOff x="0" y="0"/>
            <a:chExt cx="24384000" cy="3544093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3544062"/>
            </a:xfrm>
            <a:custGeom>
              <a:avLst/>
              <a:gdLst/>
              <a:ahLst/>
              <a:cxnLst/>
              <a:rect l="l" t="t" r="r" b="b"/>
              <a:pathLst>
                <a:path w="24384000" h="3544062">
                  <a:moveTo>
                    <a:pt x="0" y="0"/>
                  </a:moveTo>
                  <a:lnTo>
                    <a:pt x="24384000" y="0"/>
                  </a:lnTo>
                  <a:lnTo>
                    <a:pt x="24384000" y="3544062"/>
                  </a:lnTo>
                  <a:lnTo>
                    <a:pt x="0" y="3544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" r="-11"/>
              </a:stretch>
            </a:blipFill>
          </p:spPr>
        </p:sp>
      </p:grpSp>
      <p:sp>
        <p:nvSpPr>
          <p:cNvPr id="38" name="Text 0">
            <a:extLst>
              <a:ext uri="{FF2B5EF4-FFF2-40B4-BE49-F238E27FC236}">
                <a16:creationId xmlns:a16="http://schemas.microsoft.com/office/drawing/2014/main" id="{4D076693-C4EC-AE77-0724-B6DF9DD9A974}"/>
              </a:ext>
            </a:extLst>
          </p:cNvPr>
          <p:cNvSpPr/>
          <p:nvPr/>
        </p:nvSpPr>
        <p:spPr>
          <a:xfrm>
            <a:off x="992238" y="3575894"/>
            <a:ext cx="64231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125"/>
              </a:lnSpc>
            </a:pPr>
            <a:r>
              <a:rPr lang="en-US" sz="3313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AI/ML Technical Component</a:t>
            </a:r>
            <a:endParaRPr lang="en-US" sz="3313" dirty="0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F7F13FAA-D962-855D-7E42-831257086D68}"/>
              </a:ext>
            </a:extLst>
          </p:cNvPr>
          <p:cNvSpPr/>
          <p:nvPr/>
        </p:nvSpPr>
        <p:spPr>
          <a:xfrm>
            <a:off x="992238" y="4426447"/>
            <a:ext cx="16303526" cy="34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25"/>
              </a:lnSpc>
            </a:pPr>
            <a:r>
              <a:rPr lang="en-US" sz="1625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Combining multiple machine learning approaches for robust, interpretable predictions:</a:t>
            </a:r>
            <a:endParaRPr lang="en-US" sz="1625" dirty="0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4A16F459-BEEF-25A7-0CE1-5C5DA21EC74D}"/>
              </a:ext>
            </a:extLst>
          </p:cNvPr>
          <p:cNvSpPr/>
          <p:nvPr/>
        </p:nvSpPr>
        <p:spPr>
          <a:xfrm>
            <a:off x="992238" y="5005834"/>
            <a:ext cx="8045500" cy="2075409"/>
          </a:xfrm>
          <a:prstGeom prst="roundRect">
            <a:avLst>
              <a:gd name="adj" fmla="val 1537"/>
            </a:avLst>
          </a:prstGeom>
          <a:solidFill>
            <a:srgbClr val="EAE8F3"/>
          </a:solidFill>
          <a:ln/>
        </p:spPr>
      </p:sp>
      <p:pic>
        <p:nvPicPr>
          <p:cNvPr id="41" name="Image 1" descr="preencoded.png">
            <a:extLst>
              <a:ext uri="{FF2B5EF4-FFF2-40B4-BE49-F238E27FC236}">
                <a16:creationId xmlns:a16="http://schemas.microsoft.com/office/drawing/2014/main" id="{916C8697-D710-8B89-43E9-87B381948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764" y="5218360"/>
            <a:ext cx="637878" cy="637878"/>
          </a:xfrm>
          <a:prstGeom prst="rect">
            <a:avLst/>
          </a:prstGeom>
        </p:spPr>
      </p:pic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D68F5D84-1985-41CF-B538-7A1C908F6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0233" y="5393680"/>
            <a:ext cx="286941" cy="286940"/>
          </a:xfrm>
          <a:prstGeom prst="rect">
            <a:avLst/>
          </a:prstGeom>
        </p:spPr>
      </p:pic>
      <p:sp>
        <p:nvSpPr>
          <p:cNvPr id="43" name="Text 3">
            <a:extLst>
              <a:ext uri="{FF2B5EF4-FFF2-40B4-BE49-F238E27FC236}">
                <a16:creationId xmlns:a16="http://schemas.microsoft.com/office/drawing/2014/main" id="{E7F5A2BB-F80A-FF25-45FE-DFC0D302F948}"/>
              </a:ext>
            </a:extLst>
          </p:cNvPr>
          <p:cNvSpPr/>
          <p:nvPr/>
        </p:nvSpPr>
        <p:spPr>
          <a:xfrm>
            <a:off x="1204764" y="6068766"/>
            <a:ext cx="265807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63"/>
              </a:lnSpc>
            </a:pPr>
            <a:r>
              <a:rPr lang="en-US" sz="2063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Decision Trees</a:t>
            </a:r>
            <a:endParaRPr lang="en-US" sz="2063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E6C87170-353F-E631-B874-BA5C22A67B9A}"/>
              </a:ext>
            </a:extLst>
          </p:cNvPr>
          <p:cNvSpPr/>
          <p:nvPr/>
        </p:nvSpPr>
        <p:spPr>
          <a:xfrm>
            <a:off x="1204765" y="6528496"/>
            <a:ext cx="7620446" cy="34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25"/>
              </a:lnSpc>
            </a:pPr>
            <a:r>
              <a:rPr lang="en-US" sz="1625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Interpretable rules showing which factors matter most</a:t>
            </a:r>
            <a:endParaRPr lang="en-US" sz="1625" dirty="0"/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B045E9AB-B2EF-F927-076D-2AEF264ADAFB}"/>
              </a:ext>
            </a:extLst>
          </p:cNvPr>
          <p:cNvSpPr/>
          <p:nvPr/>
        </p:nvSpPr>
        <p:spPr>
          <a:xfrm>
            <a:off x="9250264" y="5005834"/>
            <a:ext cx="8045500" cy="2075409"/>
          </a:xfrm>
          <a:prstGeom prst="roundRect">
            <a:avLst>
              <a:gd name="adj" fmla="val 1537"/>
            </a:avLst>
          </a:prstGeom>
          <a:solidFill>
            <a:srgbClr val="EAE8F3"/>
          </a:solidFill>
          <a:ln/>
        </p:spPr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AE4A1EC2-84AE-9B66-23A0-A5A2AE3BE4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2790" y="5218360"/>
            <a:ext cx="637878" cy="637878"/>
          </a:xfrm>
          <a:prstGeom prst="rect">
            <a:avLst/>
          </a:prstGeom>
        </p:spPr>
      </p:pic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16FF9F0B-E844-32D7-6ABF-36E5B0CC2C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38260" y="5393680"/>
            <a:ext cx="286941" cy="286940"/>
          </a:xfrm>
          <a:prstGeom prst="rect">
            <a:avLst/>
          </a:prstGeom>
        </p:spPr>
      </p:pic>
      <p:sp>
        <p:nvSpPr>
          <p:cNvPr id="48" name="Text 6">
            <a:extLst>
              <a:ext uri="{FF2B5EF4-FFF2-40B4-BE49-F238E27FC236}">
                <a16:creationId xmlns:a16="http://schemas.microsoft.com/office/drawing/2014/main" id="{448851DE-A2F7-AA12-E406-AAF0564DEDE8}"/>
              </a:ext>
            </a:extLst>
          </p:cNvPr>
          <p:cNvSpPr/>
          <p:nvPr/>
        </p:nvSpPr>
        <p:spPr>
          <a:xfrm>
            <a:off x="9462790" y="6068766"/>
            <a:ext cx="265807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63"/>
              </a:lnSpc>
            </a:pPr>
            <a:r>
              <a:rPr lang="en-US" sz="2063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Random Forest</a:t>
            </a:r>
            <a:endParaRPr lang="en-US" sz="2063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77E51E48-E967-2001-41E5-5DB70A84CDB9}"/>
              </a:ext>
            </a:extLst>
          </p:cNvPr>
          <p:cNvSpPr/>
          <p:nvPr/>
        </p:nvSpPr>
        <p:spPr>
          <a:xfrm>
            <a:off x="9462791" y="6528496"/>
            <a:ext cx="7620446" cy="34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25"/>
              </a:lnSpc>
            </a:pPr>
            <a:r>
              <a:rPr lang="en-US" sz="1625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strength reducing overfitting and increasing accuracy</a:t>
            </a:r>
            <a:endParaRPr lang="en-US" sz="1625" dirty="0"/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49F4B9E0-4B57-BC5A-5729-BC6FD07F6F4C}"/>
              </a:ext>
            </a:extLst>
          </p:cNvPr>
          <p:cNvSpPr/>
          <p:nvPr/>
        </p:nvSpPr>
        <p:spPr>
          <a:xfrm>
            <a:off x="992238" y="7293769"/>
            <a:ext cx="8045500" cy="2075409"/>
          </a:xfrm>
          <a:prstGeom prst="roundRect">
            <a:avLst>
              <a:gd name="adj" fmla="val 1537"/>
            </a:avLst>
          </a:prstGeom>
          <a:solidFill>
            <a:srgbClr val="EAE8F3"/>
          </a:solidFill>
          <a:ln/>
        </p:spPr>
      </p:sp>
      <p:pic>
        <p:nvPicPr>
          <p:cNvPr id="51" name="Image 5" descr="preencoded.png">
            <a:extLst>
              <a:ext uri="{FF2B5EF4-FFF2-40B4-BE49-F238E27FC236}">
                <a16:creationId xmlns:a16="http://schemas.microsoft.com/office/drawing/2014/main" id="{8C10A2A0-DECC-8283-31AE-ED030E38F5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4764" y="7506295"/>
            <a:ext cx="637878" cy="637878"/>
          </a:xfrm>
          <a:prstGeom prst="rect">
            <a:avLst/>
          </a:prstGeom>
        </p:spPr>
      </p:pic>
      <p:pic>
        <p:nvPicPr>
          <p:cNvPr id="52" name="Image 6" descr="preencoded.png">
            <a:extLst>
              <a:ext uri="{FF2B5EF4-FFF2-40B4-BE49-F238E27FC236}">
                <a16:creationId xmlns:a16="http://schemas.microsoft.com/office/drawing/2014/main" id="{F0953C7C-50D4-BDF8-C628-1FB8CB6ABF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80233" y="7681615"/>
            <a:ext cx="286941" cy="286940"/>
          </a:xfrm>
          <a:prstGeom prst="rect">
            <a:avLst/>
          </a:prstGeom>
        </p:spPr>
      </p:pic>
      <p:sp>
        <p:nvSpPr>
          <p:cNvPr id="53" name="Text 9">
            <a:extLst>
              <a:ext uri="{FF2B5EF4-FFF2-40B4-BE49-F238E27FC236}">
                <a16:creationId xmlns:a16="http://schemas.microsoft.com/office/drawing/2014/main" id="{D175060C-241A-DEB9-448A-325C4D931188}"/>
              </a:ext>
            </a:extLst>
          </p:cNvPr>
          <p:cNvSpPr/>
          <p:nvPr/>
        </p:nvSpPr>
        <p:spPr>
          <a:xfrm>
            <a:off x="1204764" y="8356699"/>
            <a:ext cx="265807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63"/>
              </a:lnSpc>
            </a:pPr>
            <a:r>
              <a:rPr lang="en-US" sz="2063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Logistic Regression</a:t>
            </a:r>
            <a:endParaRPr lang="en-US" sz="2063" dirty="0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920A1A29-6A6B-897E-9330-E0EF8F831C77}"/>
              </a:ext>
            </a:extLst>
          </p:cNvPr>
          <p:cNvSpPr/>
          <p:nvPr/>
        </p:nvSpPr>
        <p:spPr>
          <a:xfrm>
            <a:off x="1204765" y="8816430"/>
            <a:ext cx="7620446" cy="34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25"/>
              </a:lnSpc>
            </a:pPr>
            <a:r>
              <a:rPr lang="en-US" sz="1625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Probabilistic approach enabling confidence scores on predictions</a:t>
            </a:r>
            <a:endParaRPr lang="en-US" sz="1625" dirty="0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9DEE37D8-B1EA-13C4-74AF-2AF21E07F7F8}"/>
              </a:ext>
            </a:extLst>
          </p:cNvPr>
          <p:cNvSpPr/>
          <p:nvPr/>
        </p:nvSpPr>
        <p:spPr>
          <a:xfrm>
            <a:off x="9250264" y="7293769"/>
            <a:ext cx="8045500" cy="2075409"/>
          </a:xfrm>
          <a:prstGeom prst="roundRect">
            <a:avLst>
              <a:gd name="adj" fmla="val 1537"/>
            </a:avLst>
          </a:prstGeom>
          <a:solidFill>
            <a:srgbClr val="EAE8F3"/>
          </a:solidFill>
          <a:ln/>
        </p:spPr>
      </p:sp>
      <p:pic>
        <p:nvPicPr>
          <p:cNvPr id="56" name="Image 7" descr="preencoded.png">
            <a:extLst>
              <a:ext uri="{FF2B5EF4-FFF2-40B4-BE49-F238E27FC236}">
                <a16:creationId xmlns:a16="http://schemas.microsoft.com/office/drawing/2014/main" id="{BF37595D-D74D-6548-516B-F5B0991662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62790" y="7506295"/>
            <a:ext cx="637878" cy="637878"/>
          </a:xfrm>
          <a:prstGeom prst="rect">
            <a:avLst/>
          </a:prstGeom>
        </p:spPr>
      </p:pic>
      <p:pic>
        <p:nvPicPr>
          <p:cNvPr id="57" name="Image 8" descr="preencoded.png">
            <a:extLst>
              <a:ext uri="{FF2B5EF4-FFF2-40B4-BE49-F238E27FC236}">
                <a16:creationId xmlns:a16="http://schemas.microsoft.com/office/drawing/2014/main" id="{3B739C76-8AA4-F132-507C-760367EE26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38260" y="7681615"/>
            <a:ext cx="286941" cy="286940"/>
          </a:xfrm>
          <a:prstGeom prst="rect">
            <a:avLst/>
          </a:prstGeom>
        </p:spPr>
      </p:pic>
      <p:sp>
        <p:nvSpPr>
          <p:cNvPr id="58" name="Text 12">
            <a:extLst>
              <a:ext uri="{FF2B5EF4-FFF2-40B4-BE49-F238E27FC236}">
                <a16:creationId xmlns:a16="http://schemas.microsoft.com/office/drawing/2014/main" id="{CCB8C24F-E3E3-0793-56E1-4AFECFDB85CF}"/>
              </a:ext>
            </a:extLst>
          </p:cNvPr>
          <p:cNvSpPr/>
          <p:nvPr/>
        </p:nvSpPr>
        <p:spPr>
          <a:xfrm>
            <a:off x="9462790" y="8356699"/>
            <a:ext cx="265807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63"/>
              </a:lnSpc>
            </a:pPr>
            <a:r>
              <a:rPr lang="en-US" sz="2063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Neural Networks</a:t>
            </a:r>
            <a:endParaRPr lang="en-US" sz="2063" dirty="0"/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1A7D8DA4-5EFB-4B24-31FB-464FAA504D2D}"/>
              </a:ext>
            </a:extLst>
          </p:cNvPr>
          <p:cNvSpPr/>
          <p:nvPr/>
        </p:nvSpPr>
        <p:spPr>
          <a:xfrm>
            <a:off x="9462791" y="8816430"/>
            <a:ext cx="7620446" cy="34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25"/>
              </a:lnSpc>
            </a:pPr>
            <a:r>
              <a:rPr lang="en-US" sz="1625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pattern recognition for complex, non-linear relationships</a:t>
            </a:r>
            <a:endParaRPr lang="en-US" sz="16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20" name="Text 0">
            <a:extLst>
              <a:ext uri="{FF2B5EF4-FFF2-40B4-BE49-F238E27FC236}">
                <a16:creationId xmlns:a16="http://schemas.microsoft.com/office/drawing/2014/main" id="{DA02922D-6433-93A3-372A-EAC55A97B452}"/>
              </a:ext>
            </a:extLst>
          </p:cNvPr>
          <p:cNvSpPr/>
          <p:nvPr/>
        </p:nvSpPr>
        <p:spPr>
          <a:xfrm>
            <a:off x="992238" y="2416671"/>
            <a:ext cx="7362230" cy="70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63"/>
              </a:lnSpc>
            </a:pPr>
            <a:r>
              <a:rPr lang="en-US" sz="4438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Performance Metrics</a:t>
            </a:r>
            <a:endParaRPr lang="en-US" sz="4438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4191253-B9B5-19DD-513B-745225B01096}"/>
              </a:ext>
            </a:extLst>
          </p:cNvPr>
          <p:cNvSpPr/>
          <p:nvPr/>
        </p:nvSpPr>
        <p:spPr>
          <a:xfrm>
            <a:off x="992238" y="3692427"/>
            <a:ext cx="16303526" cy="453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Measuring model effectiveness across critical dimensions:</a:t>
            </a:r>
            <a:endParaRPr lang="en-US" sz="2188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6ED07BE5-40F9-BDD4-3FD5-35F65A206FB6}"/>
              </a:ext>
            </a:extLst>
          </p:cNvPr>
          <p:cNvSpPr/>
          <p:nvPr/>
        </p:nvSpPr>
        <p:spPr>
          <a:xfrm>
            <a:off x="992238" y="4606678"/>
            <a:ext cx="3810000" cy="93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7313"/>
              </a:lnSpc>
            </a:pPr>
            <a:r>
              <a:rPr lang="en-US" sz="7313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92%</a:t>
            </a:r>
            <a:endParaRPr lang="en-US" sz="7313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07ABEAF8-663E-BE0A-E8EF-3CCBB60FAE72}"/>
              </a:ext>
            </a:extLst>
          </p:cNvPr>
          <p:cNvSpPr/>
          <p:nvPr/>
        </p:nvSpPr>
        <p:spPr>
          <a:xfrm>
            <a:off x="1125142" y="5896421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438"/>
              </a:lnSpc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 Accuracy</a:t>
            </a:r>
            <a:endParaRPr lang="en-US" sz="275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5638272C-99BD-7A34-433D-4D65B5E84102}"/>
              </a:ext>
            </a:extLst>
          </p:cNvPr>
          <p:cNvSpPr/>
          <p:nvPr/>
        </p:nvSpPr>
        <p:spPr>
          <a:xfrm>
            <a:off x="992238" y="6509445"/>
            <a:ext cx="3810000" cy="136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prediction correctness on validation data</a:t>
            </a:r>
            <a:endParaRPr lang="en-US" sz="2188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4D84D8F1-CAC1-EFB0-C74D-46DAD5801F4F}"/>
              </a:ext>
            </a:extLst>
          </p:cNvPr>
          <p:cNvSpPr/>
          <p:nvPr/>
        </p:nvSpPr>
        <p:spPr>
          <a:xfrm>
            <a:off x="5156598" y="4606678"/>
            <a:ext cx="3810149" cy="93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7313"/>
              </a:lnSpc>
            </a:pPr>
            <a:r>
              <a:rPr lang="en-US" sz="7313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88%</a:t>
            </a:r>
            <a:endParaRPr lang="en-US" sz="7313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72AAEFF5-FBAC-77B0-233B-5B1AE2C75B96}"/>
              </a:ext>
            </a:extLst>
          </p:cNvPr>
          <p:cNvSpPr/>
          <p:nvPr/>
        </p:nvSpPr>
        <p:spPr>
          <a:xfrm>
            <a:off x="5289649" y="5896421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438"/>
              </a:lnSpc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Precision</a:t>
            </a:r>
            <a:endParaRPr lang="en-US" sz="27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64C32C74-6C44-AB6E-1B88-E3758A5EF63E}"/>
              </a:ext>
            </a:extLst>
          </p:cNvPr>
          <p:cNvSpPr/>
          <p:nvPr/>
        </p:nvSpPr>
        <p:spPr>
          <a:xfrm>
            <a:off x="5156598" y="6509446"/>
            <a:ext cx="381014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Minimizing false positives in at-risk identification</a:t>
            </a:r>
            <a:endParaRPr lang="en-US" sz="2188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5AFA94D-D6F2-A097-D0A5-F55860212DD7}"/>
              </a:ext>
            </a:extLst>
          </p:cNvPr>
          <p:cNvSpPr/>
          <p:nvPr/>
        </p:nvSpPr>
        <p:spPr>
          <a:xfrm>
            <a:off x="9321106" y="4606678"/>
            <a:ext cx="3810149" cy="93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7313"/>
              </a:lnSpc>
            </a:pPr>
            <a:r>
              <a:rPr lang="en-US" sz="7313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85%</a:t>
            </a:r>
            <a:endParaRPr lang="en-US" sz="7313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1A4EA50-EE15-1A66-0AF9-559CD111C265}"/>
              </a:ext>
            </a:extLst>
          </p:cNvPr>
          <p:cNvSpPr/>
          <p:nvPr/>
        </p:nvSpPr>
        <p:spPr>
          <a:xfrm>
            <a:off x="9454158" y="5896421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438"/>
              </a:lnSpc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Recall</a:t>
            </a:r>
            <a:endParaRPr lang="en-US" sz="275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161491E7-7C6C-401C-241E-5C523FF4E654}"/>
              </a:ext>
            </a:extLst>
          </p:cNvPr>
          <p:cNvSpPr/>
          <p:nvPr/>
        </p:nvSpPr>
        <p:spPr>
          <a:xfrm>
            <a:off x="9321106" y="6509446"/>
            <a:ext cx="381014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Catching majority of truly at-risk students</a:t>
            </a:r>
            <a:endParaRPr lang="en-US" sz="2188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37E8683E-8DAF-B822-2298-2A7FB8BBA07F}"/>
              </a:ext>
            </a:extLst>
          </p:cNvPr>
          <p:cNvSpPr/>
          <p:nvPr/>
        </p:nvSpPr>
        <p:spPr>
          <a:xfrm>
            <a:off x="13485614" y="4606678"/>
            <a:ext cx="3810149" cy="93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7313"/>
              </a:lnSpc>
            </a:pPr>
            <a:r>
              <a:rPr lang="en-US" sz="7313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0.87</a:t>
            </a:r>
            <a:endParaRPr lang="en-US" sz="7313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7E39EF78-9604-803E-E3D6-A3EAD0606096}"/>
              </a:ext>
            </a:extLst>
          </p:cNvPr>
          <p:cNvSpPr/>
          <p:nvPr/>
        </p:nvSpPr>
        <p:spPr>
          <a:xfrm>
            <a:off x="13618667" y="5896421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438"/>
              </a:lnSpc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F1-Score</a:t>
            </a:r>
            <a:endParaRPr lang="en-US" sz="275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2A5F389E-BAAE-261C-2AB9-798E8A498D9E}"/>
              </a:ext>
            </a:extLst>
          </p:cNvPr>
          <p:cNvSpPr/>
          <p:nvPr/>
        </p:nvSpPr>
        <p:spPr>
          <a:xfrm>
            <a:off x="13485614" y="6509446"/>
            <a:ext cx="381014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563"/>
              </a:lnSpc>
            </a:pPr>
            <a:r>
              <a:rPr lang="en-US" sz="218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Balanced measure of precision and recall</a:t>
            </a:r>
            <a:endParaRPr lang="en-US" sz="218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3544044"/>
            <a:chOff x="0" y="0"/>
            <a:chExt cx="24384000" cy="4725392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725416"/>
            </a:xfrm>
            <a:custGeom>
              <a:avLst/>
              <a:gdLst/>
              <a:ahLst/>
              <a:cxnLst/>
              <a:rect l="l" t="t" r="r" b="b"/>
              <a:pathLst>
                <a:path w="24384000" h="4725416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" r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238" y="4719042"/>
            <a:ext cx="7642324" cy="7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Impact &amp; Implementation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6136481"/>
            <a:ext cx="3592116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Immediate Benefits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796236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30-40% earlier intervention timing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7348984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Reduced achievement gaps through proactive support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7901731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Data-driven resource allocation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8454479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Improved graduation rates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1" y="6136481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Research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9401" y="6796236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Multi-year longitudinal studies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401" y="7348984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Cross-institutional model validation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9401" y="7901731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Explainable AI transparency improvements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9401" y="8454479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Integration with adaptive learning platforms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DAABA-629A-F3CC-D728-B4CF6F684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1B5CBD-184B-DA36-6CB1-B96B2E33859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297493-75E2-49F2-019C-296FB0FC0C72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8332C71-72B6-C595-18D2-2E232F82F55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3823BA3-11F3-30A6-2F3A-9F7A853678A2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20" name="Text 0">
            <a:extLst>
              <a:ext uri="{FF2B5EF4-FFF2-40B4-BE49-F238E27FC236}">
                <a16:creationId xmlns:a16="http://schemas.microsoft.com/office/drawing/2014/main" id="{DED0B461-0F91-84AC-38DD-CED30EE09E73}"/>
              </a:ext>
            </a:extLst>
          </p:cNvPr>
          <p:cNvSpPr/>
          <p:nvPr/>
        </p:nvSpPr>
        <p:spPr>
          <a:xfrm>
            <a:off x="1947603" y="2419944"/>
            <a:ext cx="7362230" cy="70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63"/>
              </a:lnSpc>
            </a:pPr>
            <a:r>
              <a:rPr lang="en-US" sz="4438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Reference</a:t>
            </a:r>
            <a:endParaRPr lang="en-US" sz="4438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44BC042-25F4-A71B-A5A8-3677E91A4A43}"/>
              </a:ext>
            </a:extLst>
          </p:cNvPr>
          <p:cNvSpPr/>
          <p:nvPr/>
        </p:nvSpPr>
        <p:spPr>
          <a:xfrm>
            <a:off x="1947603" y="3695700"/>
            <a:ext cx="16303526" cy="495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563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Student Performance Prediction using Machine Learning</a:t>
            </a:r>
          </a:p>
          <a:p>
            <a:pPr>
              <a:lnSpc>
                <a:spcPts val="3563"/>
              </a:lnSpc>
            </a:pPr>
            <a:r>
              <a:rPr lang="en-US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International Journal of Engineering Research &amp; Technology</a:t>
            </a:r>
            <a:endParaRPr lang="en-US" sz="2400" dirty="0"/>
          </a:p>
          <a:p>
            <a:pPr>
              <a:lnSpc>
                <a:spcPts val="3563"/>
              </a:lnSpc>
            </a:pPr>
            <a:endParaRPr lang="en-US" sz="2400" dirty="0"/>
          </a:p>
          <a:p>
            <a:pPr marL="342900" indent="-342900">
              <a:lnSpc>
                <a:spcPts val="3563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Prediction of Students’ Performance using Machine learning</a:t>
            </a:r>
          </a:p>
          <a:p>
            <a:pPr>
              <a:lnSpc>
                <a:spcPts val="3563"/>
              </a:lnSpc>
            </a:pPr>
            <a:r>
              <a:rPr lang="en-US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IOP Conf. Series: Materials Science and Engineering</a:t>
            </a:r>
            <a:endParaRPr lang="en-US" sz="2400" dirty="0"/>
          </a:p>
          <a:p>
            <a:pPr>
              <a:lnSpc>
                <a:spcPts val="3563"/>
              </a:lnSpc>
            </a:pPr>
            <a:endParaRPr lang="en-US" sz="2400" dirty="0"/>
          </a:p>
          <a:p>
            <a:pPr marL="342900" indent="-342900">
              <a:lnSpc>
                <a:spcPts val="3563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Predicting Students ’ Performance Using Machine Learning Algorithms: A Review</a:t>
            </a:r>
          </a:p>
          <a:p>
            <a:pPr>
              <a:lnSpc>
                <a:spcPts val="3563"/>
              </a:lnSpc>
            </a:pPr>
            <a:r>
              <a:rPr lang="en-US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Asian Journal of Research in Computer Science</a:t>
            </a:r>
            <a:endParaRPr lang="en-US" sz="2400" dirty="0"/>
          </a:p>
          <a:p>
            <a:pPr>
              <a:lnSpc>
                <a:spcPts val="3563"/>
              </a:lnSpc>
            </a:pPr>
            <a:endParaRPr lang="en-US" sz="2400" dirty="0"/>
          </a:p>
          <a:p>
            <a:pPr marL="342900" indent="-342900">
              <a:lnSpc>
                <a:spcPts val="3563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STUDENT PERFORMANCE PREDICTION USING MACHINE LEARNING TECHNIQUES</a:t>
            </a:r>
          </a:p>
          <a:p>
            <a:pPr>
              <a:lnSpc>
                <a:spcPts val="3563"/>
              </a:lnSpc>
            </a:pPr>
            <a:r>
              <a:rPr lang="en-US" sz="2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International Research Journal of Modernization in Engineering Technology and Science</a:t>
            </a:r>
          </a:p>
          <a:p>
            <a:pPr>
              <a:lnSpc>
                <a:spcPts val="3563"/>
              </a:lnSpc>
            </a:pPr>
            <a:endParaRPr lang="en-US" sz="2400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ts val="3563"/>
              </a:lnSpc>
            </a:pPr>
            <a:r>
              <a:rPr lang="en-US" sz="2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2400" dirty="0"/>
          </a:p>
          <a:p>
            <a:pPr>
              <a:lnSpc>
                <a:spcPts val="3563"/>
              </a:lnSpc>
            </a:pPr>
            <a:endParaRPr lang="en-US" sz="2400" dirty="0"/>
          </a:p>
          <a:p>
            <a:pPr>
              <a:lnSpc>
                <a:spcPts val="3563"/>
              </a:lnSpc>
            </a:pPr>
            <a:endParaRPr lang="en-US" sz="2400" dirty="0"/>
          </a:p>
          <a:p>
            <a:pPr marL="342900" indent="-342900">
              <a:lnSpc>
                <a:spcPts val="3563"/>
              </a:lnSpc>
              <a:buFont typeface="Arial" panose="020B0604020202020204" pitchFamily="34" charset="0"/>
              <a:buChar char="•"/>
            </a:pPr>
            <a:endParaRPr lang="en-US" sz="2188" dirty="0"/>
          </a:p>
        </p:txBody>
      </p:sp>
    </p:spTree>
    <p:extLst>
      <p:ext uri="{BB962C8B-B14F-4D97-AF65-F5344CB8AC3E}">
        <p14:creationId xmlns:p14="http://schemas.microsoft.com/office/powerpoint/2010/main" val="1862285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7" y="2109787"/>
            <a:ext cx="7088237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7" y="3363814"/>
            <a:ext cx="9445526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Our machine learning initiative fundamentally transforms education from a reactive to a proactive model. By identifying each student's unique potential, we empower educators to intervene effectively and early, leading to significant improvements in student outcomes, reduced achievement gaps, and higher graduation rates.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850237" y="6036618"/>
            <a:ext cx="9445526" cy="2112020"/>
            <a:chOff x="0" y="0"/>
            <a:chExt cx="12594035" cy="28160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94082" cy="2816098"/>
            </a:xfrm>
            <a:custGeom>
              <a:avLst/>
              <a:gdLst/>
              <a:ahLst/>
              <a:cxnLst/>
              <a:rect l="l" t="t" r="r" b="b"/>
              <a:pathLst>
                <a:path w="12594082" h="281609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537313" y="0"/>
                  </a:lnTo>
                  <a:cubicBezTo>
                    <a:pt x="12568682" y="0"/>
                    <a:pt x="12594082" y="25400"/>
                    <a:pt x="12594082" y="56769"/>
                  </a:cubicBezTo>
                  <a:lnTo>
                    <a:pt x="12594082" y="2759329"/>
                  </a:lnTo>
                  <a:cubicBezTo>
                    <a:pt x="12594082" y="2790698"/>
                    <a:pt x="12568682" y="2816098"/>
                    <a:pt x="12537313" y="2816098"/>
                  </a:cubicBezTo>
                  <a:lnTo>
                    <a:pt x="56769" y="2816098"/>
                  </a:lnTo>
                  <a:cubicBezTo>
                    <a:pt x="25400" y="2816098"/>
                    <a:pt x="0" y="2790698"/>
                    <a:pt x="0" y="2759329"/>
                  </a:cubicBezTo>
                  <a:close/>
                </a:path>
              </a:pathLst>
            </a:custGeom>
            <a:solidFill>
              <a:srgbClr val="C3C2F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133755" y="6476256"/>
            <a:ext cx="354360" cy="283518"/>
            <a:chOff x="0" y="0"/>
            <a:chExt cx="472480" cy="378023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70" r="-8" b="-65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8771632" y="6305252"/>
            <a:ext cx="8240614" cy="144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Next Steps:</a:t>
            </a:r>
            <a:r>
              <a:rPr lang="en-US" sz="21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Pilot program across 5 schools, quarterly model refinement, stakeholder feedback integration, and scalable deployment by next academic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566</Words>
  <Application>Microsoft Office PowerPoint</Application>
  <PresentationFormat>Custom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Libre Baskerville Light</vt:lpstr>
      <vt:lpstr>Open Sans</vt:lpstr>
      <vt:lpstr>Open Sans Bold</vt:lpstr>
      <vt:lpstr>Calibri</vt:lpstr>
      <vt:lpstr>Libre Baskerville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legal</cp:lastModifiedBy>
  <cp:revision>6</cp:revision>
  <dcterms:created xsi:type="dcterms:W3CDTF">2006-08-16T00:00:00Z</dcterms:created>
  <dcterms:modified xsi:type="dcterms:W3CDTF">2025-11-04T08:00:38Z</dcterms:modified>
  <dc:identifier>DAG3nM571y0</dc:identifier>
</cp:coreProperties>
</file>